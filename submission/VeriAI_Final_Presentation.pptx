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840480" cy="365760"/>
          </a:xfrm>
          <a:prstGeom prst="roundRect">
            <a:avLst/>
          </a:prstGeom>
          <a:solidFill>
            <a:srgbClr val="1E3A5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ACADEMIC FINAL PROJECT REVIEW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VeriAI: Real-Time Fact Verification &amp; Explainable AI</a:t>
            </a:r>
          </a:p>
          <a:p>
            <a:pPr>
              <a:spcBef>
                <a:spcPts val="800"/>
              </a:spcBef>
              <a:defRPr sz="1800">
                <a:solidFill>
                  <a:srgbClr val="BFDBFE"/>
                </a:solidFill>
                <a:latin typeface="Calibri"/>
              </a:defRPr>
            </a:pPr>
            <a:r>
              <a:t>Dual-Stream Semantic Grounding, Atomic Decomposition, and SHAP Feature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32720" cy="1737360"/>
          </a:xfrm>
          <a:prstGeom prst="roundRect">
            <a:avLst/>
          </a:prstGeom>
          <a:solidFill>
            <a:srgbClr val="18345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3C5FD"/>
                </a:solidFill>
              </a:defRPr>
            </a:pPr>
            <a:r>
              <a:t>Project Team &amp; Institutional Details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Student Researchers:  Rohan (rayavarapurohan2006@gmail.com)  |  Lakshya Kumar Singh (lakshyakumarsingh1@gmail.com)</a:t>
            </a:r>
            <a:br/>
            <a:r>
              <a:t>Department:               School of Computer Science &amp; Engineering (SCOPE)</a:t>
            </a:r>
            <a:br/>
            <a:r>
              <a:t>Institution:                  Vellore Institute of Technology (VIT), Chennai</a:t>
            </a:r>
            <a:br/>
            <a:r>
              <a:t>Course / Focus:            Decision Analytics &amp; Applied Machine Learning | Explainable AI (XAI)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Problem Statement &amp; The Disinformation Dilemma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A4A"/>
                </a:solidFill>
              </a:defRPr>
            </a:pPr>
            <a:r>
              <a:t>The Threat of Digital Disinformation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2563EB"/>
                </a:solidFill>
              </a:rPr>
              <a:t>• Exponential Spread: </a:t>
            </a:r>
            <a:r>
              <a:rPr b="0" sz="1100">
                <a:solidFill>
                  <a:srgbClr val="475569"/>
                </a:solidFill>
              </a:rPr>
              <a:t>False narratives diffuse 6x faster than truthful reporting on social networks, exacerbating societal polarization and public risk.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2563EB"/>
                </a:solidFill>
              </a:rPr>
              <a:t>• Synthetic Content: </a:t>
            </a:r>
            <a:r>
              <a:rPr b="0" sz="1100">
                <a:solidFill>
                  <a:srgbClr val="475569"/>
                </a:solidFill>
              </a:rPr>
              <a:t>Generative AI tools enable bad actors to mass-produce structurally convincing propaganda at near-zero marginal cost.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2563EB"/>
                </a:solidFill>
              </a:rPr>
              <a:t>• High-Stakes Decisions: </a:t>
            </a:r>
            <a:r>
              <a:rPr b="0" sz="1100">
                <a:solidFill>
                  <a:srgbClr val="475569"/>
                </a:solidFill>
              </a:rPr>
              <a:t>In financial markets, health crises, and elections, stakeholders require instant verification before acting on unverified reports.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2563EB"/>
                </a:solidFill>
              </a:rPr>
              <a:t>• Regulatory Mandates: </a:t>
            </a:r>
            <a:r>
              <a:rPr b="0" sz="1100">
                <a:solidFill>
                  <a:srgbClr val="475569"/>
                </a:solidFill>
              </a:rPr>
              <a:t>Global compliance frameworks (e.g., EU AI Act) mandate explainable, auditable reasoning rather than unverified binary predictions.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The 'Black Box' &amp; False Confidence Trap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DC2626"/>
                </a:solidFill>
              </a:rPr>
              <a:t>• Opaque Outputs: </a:t>
            </a:r>
            <a:r>
              <a:rPr b="0" sz="1100">
                <a:solidFill>
                  <a:srgbClr val="475569"/>
                </a:solidFill>
              </a:rPr>
              <a:t>Traditional deep learning classifiers output solitary binary labels (e.g., 'Fake 87%') with zero provenance or factual justification.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DC2626"/>
                </a:solidFill>
              </a:rPr>
              <a:t>• User Distrust: </a:t>
            </a:r>
            <a:r>
              <a:rPr b="0" sz="1100">
                <a:solidFill>
                  <a:srgbClr val="475569"/>
                </a:solidFill>
              </a:rPr>
              <a:t>When users cannot see why an article is flagged, adoption drops and skepticism towards automated fact-checkers increases.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DC2626"/>
                </a:solidFill>
              </a:rPr>
              <a:t>• Zero Error Recovery: </a:t>
            </a:r>
            <a:r>
              <a:rPr b="0" sz="1100">
                <a:solidFill>
                  <a:srgbClr val="475569"/>
                </a:solidFill>
              </a:rPr>
              <a:t>If an authentic breaking story uses unusual vocabulary, an isolated NLP model rejects it without recourse to live corroboration.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DC2626"/>
                </a:solidFill>
              </a:rPr>
              <a:t>• Need for Dual Assurance: </a:t>
            </a:r>
            <a:r>
              <a:rPr b="0" sz="1100">
                <a:solidFill>
                  <a:srgbClr val="475569"/>
                </a:solidFill>
              </a:rPr>
              <a:t>Users need linguistic style evaluation AND authoritative real-world evidence presented in an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Research Gaps &amp;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GAP 1: Linguistic Shortcutting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Models learn publisher metadata ('Reuters', 'said') instead of verifying claims.</a:t>
            </a:r>
          </a:p>
          <a:p>
            <a:pPr>
              <a:spcBef>
                <a:spcPts val="1200"/>
              </a:spcBef>
              <a:defRPr sz="800">
                <a:solidFill>
                  <a:srgbClr val="CBD5E1"/>
                </a:solidFill>
              </a:defRPr>
            </a:pPr>
            <a:r>
              <a:t>--------------------------------------</a:t>
            </a:r>
          </a:p>
          <a:p>
            <a:pPr>
              <a:spcBef>
                <a:spcPts val="800"/>
              </a:spcBef>
              <a:defRPr sz="1400" b="1">
                <a:solidFill>
                  <a:srgbClr val="2563EB"/>
                </a:solidFill>
              </a:defRPr>
            </a:pPr>
            <a:r>
              <a:t>Objective 1: Expose Bias via SHAP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Compute exact Shapley attributions to quantify stylistic shortcuts and establish an auditable Journalistic Style Index.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GAP 2: Static Knowledge Limits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Corpus-trained models cannot verify fresh breaking events or contemporary claims.</a:t>
            </a:r>
          </a:p>
          <a:p>
            <a:pPr>
              <a:spcBef>
                <a:spcPts val="1200"/>
              </a:spcBef>
              <a:defRPr sz="800">
                <a:solidFill>
                  <a:srgbClr val="CBD5E1"/>
                </a:solidFill>
              </a:defRPr>
            </a:pPr>
            <a:r>
              <a:t>--------------------------------------</a:t>
            </a:r>
          </a:p>
          <a:p>
            <a:pPr>
              <a:spcBef>
                <a:spcPts val="800"/>
              </a:spcBef>
              <a:defRPr sz="1400" b="1">
                <a:solidFill>
                  <a:srgbClr val="059669"/>
                </a:solidFill>
              </a:defRPr>
            </a:pPr>
            <a:r>
              <a:t>Objective 2: Live Multi-Feed Retrieval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Deploy asynchronous web retrieval across Google News RSS and DuckDuckGo to extract contemporary evidence dynamically.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GAP 3: Coarse Unstructured Labels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Paragraph-level labels fail to identify nuanced half-truths and mixed assertions.</a:t>
            </a:r>
          </a:p>
          <a:p>
            <a:pPr>
              <a:spcBef>
                <a:spcPts val="1200"/>
              </a:spcBef>
              <a:defRPr sz="800">
                <a:solidFill>
                  <a:srgbClr val="CBD5E1"/>
                </a:solidFill>
              </a:defRPr>
            </a:pPr>
            <a:r>
              <a:t>--------------------------------------</a:t>
            </a:r>
          </a:p>
          <a:p>
            <a:pPr>
              <a:spcBef>
                <a:spcPts val="800"/>
              </a:spcBef>
              <a:defRPr sz="1400" b="1">
                <a:solidFill>
                  <a:srgbClr val="0F2A4A"/>
                </a:solidFill>
              </a:defRPr>
            </a:pPr>
            <a:r>
              <a:t>Objective 3: Atomic NLI Decomposition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Decompose statements into atomic propositions and compute cross-encoder NLI (Entailment / Contradiction) with calibrated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Comparative Analysis of Existing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59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 / Framework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Benchmark Dataset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Architecture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Live Retrieval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Scope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FakeNewsNet (Shu et al., 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PolitiFact / GossipCop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GNN + Social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Attention Heatmaps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(Static)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Graph 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LIAR Benchmark (Wang, 2017)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PolitiFact (12.8k)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CNN / BiLSTM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None (Black Box)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(Static)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Short Statements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FEVER (Thorne et al., 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Wikipedia (185k)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MLP / DeBERTa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Sentence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(Pre-indexed)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Wikipedia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LIME Text (Ribeiro et al., 2016)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General Corpora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Sparse Linear Surrogate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Perturbation Weights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Local Surrogates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VeriAI (Proposed)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ISOT + LIAR (57.7k)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TF-IDF + Calibrated LR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SHAP Linear Explainer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Yes (RSS + DDG)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Dual-Stream Grounding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937760"/>
            <a:ext cx="10725912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Key Takeaway: The Critical Research Gap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No prior system provides end-to-end integration of (1) closed-form Shapley game-theoretic word attribution, (2) microsecond inference latency, and (3) live multi-source web evidence retrieval with atomic NLI decomposition. VeriAI is engineered specifically to close this multi-dimensional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Proposed Architecture: Dual-Stream Verification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57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A4A"/>
                </a:solidFill>
              </a:defRPr>
            </a:pPr>
            <a:r>
              <a:t>5-Stage Verification Workflow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563EB"/>
                </a:solidFill>
              </a:rPr>
              <a:t>1. Preprocessing: </a:t>
            </a:r>
            <a:r>
              <a:rPr b="0" sz="1050">
                <a:solidFill>
                  <a:srgbClr val="475569"/>
                </a:solidFill>
              </a:rPr>
              <a:t>RegEx cleaning, stopword removal, lemmatization, 10k TF-IDF projection.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563EB"/>
                </a:solidFill>
              </a:rPr>
              <a:t>2. Stream 1 (NLP + SHAP): </a:t>
            </a:r>
            <a:r>
              <a:rPr b="0" sz="1050">
                <a:solidFill>
                  <a:srgbClr val="475569"/>
                </a:solidFill>
              </a:rPr>
              <a:t>Calibrated Logistic Regression &amp; LinearExplainer compute exact word Shapley values.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563EB"/>
                </a:solidFill>
              </a:rPr>
              <a:t>3. Stream 2 (Evidence): </a:t>
            </a:r>
            <a:r>
              <a:rPr b="0" sz="1050">
                <a:solidFill>
                  <a:srgbClr val="475569"/>
                </a:solidFill>
              </a:rPr>
              <a:t>Dynamic Boolean queries search Google RSS &amp; DuckDuckGo for live reporting.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563EB"/>
                </a:solidFill>
              </a:rPr>
              <a:t>4. NLI Reasoning: </a:t>
            </a:r>
            <a:r>
              <a:rPr b="0" sz="1050">
                <a:solidFill>
                  <a:srgbClr val="475569"/>
                </a:solidFill>
              </a:rPr>
              <a:t>Atomic decomposition evaluated via DeBERTa-v3 &amp; Gemini 3.5.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563EB"/>
                </a:solidFill>
              </a:rPr>
              <a:t>5. Hybrid Synthesis: </a:t>
            </a:r>
            <a:r>
              <a:rPr b="0" sz="1050">
                <a:solidFill>
                  <a:srgbClr val="475569"/>
                </a:solidFill>
              </a:rPr>
              <a:t>Reconciles style with ground truth to produce final calibrated verdict.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Dataset Composition &amp; Experimental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57,689 Total Articles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ISOT (44.9k) + LIAR (12.8k) Multi-Source Pool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1280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15,000 Stratified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12,000 Train (80%) | 3,000 Holdout Test (20%)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0712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45309"/>
                </a:solidFill>
              </a:defRPr>
            </a:pPr>
            <a:r>
              <a:t>10,000 N-Grams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Sublinear TF-IDF (Unigrams &amp; Bigrams)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5912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3601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A4A"/>
                </a:solidFill>
              </a:defRPr>
            </a:pPr>
            <a:r>
              <a:t>Experimental Rigor &amp; Methodology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2563EB"/>
                </a:solidFill>
              </a:rPr>
              <a:t>• Stratified Holdout Protocol: </a:t>
            </a:r>
            <a:r>
              <a:rPr b="0" sz="1100">
                <a:solidFill>
                  <a:srgbClr val="0F172A"/>
                </a:solidFill>
              </a:rPr>
              <a:t>Training split: 5849 Fake, 6151 True. Testing split: 1462 Fake, 1538 True (Exact 50/50 balance, random seed 42).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2563EB"/>
                </a:solidFill>
              </a:rPr>
              <a:t>• Models Evaluated: </a:t>
            </a:r>
            <a:r>
              <a:rPr b="0" sz="1100">
                <a:solidFill>
                  <a:srgbClr val="0F172A"/>
                </a:solidFill>
              </a:rPr>
              <a:t>Logistic Regression (L2 regularized), Multinomial Naive Bayes (alpha=1.0), Random Forest (100 trees), XGBoost (100 estimators), and LightGBM (100 estimators).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2563EB"/>
                </a:solidFill>
              </a:rPr>
              <a:t>• Comprehensive Metrics: </a:t>
            </a:r>
            <a:r>
              <a:rPr b="0" sz="1100">
                <a:solidFill>
                  <a:srgbClr val="0F172A"/>
                </a:solidFill>
              </a:rPr>
              <a:t>Accuracy, Precision, Recall, Macro F1, ROC-AUC, Brier Score (probability loss), Expected Calibration Error (ECE across 10 bins), and Inference Latency per sample.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2563EB"/>
                </a:solidFill>
              </a:rPr>
              <a:t>• Hardware Environment: </a:t>
            </a:r>
            <a:r>
              <a:rPr b="0" sz="1100">
                <a:solidFill>
                  <a:srgbClr val="0F172A"/>
                </a:solidFill>
              </a:rPr>
              <a:t>Benchmarked on Apple Silicon (M-series, ARM64) running Python 3.13, Scikit-Learn 1.7.0, XGBoost 3.1.1, and LightGBM 4.6.0.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Baseline Model Results &amp; Deployment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217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0"/>
                <a:gridCol w="1036320"/>
                <a:gridCol w="1036320"/>
                <a:gridCol w="1036320"/>
                <a:gridCol w="1036320"/>
                <a:gridCol w="10363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Classifier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88.93%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0.8946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0.9625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0.0403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0.4 µs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Multinomial Naive Bayes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85.33%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0.8573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0.9465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0.0315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 µs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88.80%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0.1708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12.8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89.13%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0.9015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0.9640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3.3 µs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89.03%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0.0203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2.1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846320"/>
            <a:ext cx="62179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A4A"/>
                </a:solidFill>
              </a:defRPr>
            </a:pPr>
            <a:r>
              <a:t>Deployed Logistic Regression Confusion Matrix (n=3,000)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True Negatives (Correctly Fake): 1,259 (86.11%)</a:t>
            </a:r>
            <a:br/>
            <a:r>
              <a:t>• True Positives (Correctly True): 1,409 (91.61%)</a:t>
            </a:r>
            <a:br/>
            <a:r>
              <a:t>• False Positives: 203 | False Negatives: 129 | Overall Accuracy: 88.93%</a:t>
            </a:r>
          </a:p>
        </p:txBody>
      </p:sp>
      <p:pic>
        <p:nvPicPr>
          <p:cNvPr id="7" name="Picture 6" descr="fig3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42976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4846320"/>
            <a:ext cx="4325112" cy="1463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4937760"/>
            <a:ext cx="3959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Why Deployed Logistic Regression Wins: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1. 8x Faster Latency: 0.4 µs vs. 3.3 µs (XGBoost).</a:t>
            </a:r>
            <a:br/>
            <a:r>
              <a:t>2. Closed-Form SHAP: Exact linear attribution in O(M) time.</a:t>
            </a:r>
            <a:br/>
            <a:r>
              <a:t>3. Calibrated Probabilities: Low ECE (0.0403) vs. Random Forest (0.1708).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Implemented Explainable AI (XAI)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A4A"/>
                </a:solidFill>
              </a:defRPr>
            </a:pPr>
            <a:r>
              <a:t>1. SHAP Linear Explainer Formulation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2563EB"/>
                </a:solidFill>
              </a:rPr>
              <a:t>• Axiomatic Foundation: </a:t>
            </a:r>
            <a:r>
              <a:rPr b="0" sz="1100">
                <a:solidFill>
                  <a:srgbClr val="475569"/>
                </a:solidFill>
              </a:rPr>
              <a:t>Grounded in cooperative game theory (Lundberg &amp; Lee, 2017). Uniquely satisfies Efficiency, Symmetry, Dummy, and Additivity axioms.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2563EB"/>
                </a:solidFill>
              </a:rPr>
              <a:t>• Closed-Form Solution: </a:t>
            </a:r>
            <a:r>
              <a:rPr b="0" sz="1100">
                <a:solidFill>
                  <a:srgbClr val="475569"/>
                </a:solidFill>
              </a:rPr>
              <a:t>phi_i(x) = beta_i * (x_i - E[x_i]). Computes exact token attributions without Monte Carlo sampling approximations.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2563EB"/>
                </a:solidFill>
              </a:rPr>
              <a:t>• Microsecond Efficiency: </a:t>
            </a:r>
            <a:r>
              <a:rPr b="0" sz="1100">
                <a:solidFill>
                  <a:srgbClr val="475569"/>
                </a:solidFill>
              </a:rPr>
              <a:t>Explanation generation takes &lt; 0.05 ms, allowing real-time word highlighting in the browser.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2563EB"/>
                </a:solidFill>
              </a:rPr>
              <a:t>• Local Word Highlighting: </a:t>
            </a:r>
            <a:r>
              <a:rPr b="0" sz="1100">
                <a:solidFill>
                  <a:srgbClr val="475569"/>
                </a:solidFill>
              </a:rPr>
              <a:t>Positive terms highlighted in green (credibility boosters); negative terms highlighted in red (promotional risk).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3951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A4A"/>
                </a:solidFill>
              </a:defRPr>
            </a:pPr>
            <a:r>
              <a:t>2. Journalistic Style Index &amp; Risk Flags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59669"/>
                </a:solidFill>
              </a:rPr>
              <a:t>• Journalistic Style Index: </a:t>
            </a:r>
            <a:r>
              <a:rPr b="0" sz="1100">
                <a:solidFill>
                  <a:srgbClr val="475569"/>
                </a:solidFill>
              </a:rPr>
              <a:t>Quantifies formal objective reporting density vs sensational conversational phrasing on a 0-100 scale.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59669"/>
                </a:solidFill>
              </a:rPr>
              <a:t>• Credibility-Boosting Terms: </a:t>
            </a:r>
            <a:r>
              <a:rPr b="0" sz="1100">
                <a:solidFill>
                  <a:srgbClr val="475569"/>
                </a:solidFill>
              </a:rPr>
              <a:t>Extracts attribution clauses (e.g., 'spokesman', 'statement', 'official') that ground professional news reports.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59669"/>
                </a:solidFill>
              </a:rPr>
              <a:t>• Promotional &amp; Emotional Risk: </a:t>
            </a:r>
            <a:r>
              <a:rPr b="0" sz="1100">
                <a:solidFill>
                  <a:srgbClr val="475569"/>
                </a:solidFill>
              </a:rPr>
              <a:t>Detects clickbait click-drivers (e.g., 'watch', 'video', 'shocking', 'breaking') that inflate sensationalism.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59669"/>
                </a:solidFill>
              </a:rPr>
              <a:t>• UI Transparency: </a:t>
            </a:r>
            <a:r>
              <a:rPr b="0" sz="1100">
                <a:solidFill>
                  <a:srgbClr val="475569"/>
                </a:solidFill>
              </a:rPr>
              <a:t>Renders feature impact waterfall charts and style indices directly on the VeriAI frontend.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Formal XAI Evaluation Metrics &amp; Formulas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Faithfulness (Comprehensiveness)</a:t>
            </a:r>
          </a:p>
          <a:p>
            <a:pPr>
              <a:spcBef>
                <a:spcPts val="400"/>
              </a:spcBef>
              <a:defRPr sz="1100" b="1">
                <a:solidFill>
                  <a:srgbClr val="0F2A4A"/>
                </a:solidFill>
              </a:defRPr>
            </a:pPr>
            <a:r>
              <a:t>Delta P = P(y|x) - P(y|x \ S_k)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Measures confidence drop when removing the top-k SHAP explanatory features. A faithful explanation must cause significantly greater degradation than random removal.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2. Sufficiency</a:t>
            </a:r>
          </a:p>
          <a:p>
            <a:pPr>
              <a:spcBef>
                <a:spcPts val="400"/>
              </a:spcBef>
              <a:defRPr sz="1100" b="1">
                <a:solidFill>
                  <a:srgbClr val="0F2A4A"/>
                </a:solidFill>
              </a:defRPr>
            </a:pPr>
            <a:r>
              <a:t>Ratio = P(y|S_k) / P(y|x)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Measures prediction retention when the model is presented ONLY with the top-k explanatory tokens. High sufficiency confirms explanations isolate the true core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799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t>3. Stability &amp; Robustness</a:t>
            </a:r>
          </a:p>
          <a:p>
            <a:pPr>
              <a:spcBef>
                <a:spcPts val="400"/>
              </a:spcBef>
              <a:defRPr sz="1100" b="1">
                <a:solidFill>
                  <a:srgbClr val="0F2A4A"/>
                </a:solidFill>
              </a:defRPr>
            </a:pPr>
            <a:r>
              <a:t>Jaccard = |E(x) cap E(x')| / |E(x) cup E(x')|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Measures explanation consistency when input undergoes localized perturbation (e.g. minor typos or punctuation noise). High Jaccard confirms robustness against manipulation.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2120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799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A4A"/>
                </a:solidFill>
              </a:defRPr>
            </a:pPr>
            <a:r>
              <a:t>4. Confidence Calibration</a:t>
            </a:r>
          </a:p>
          <a:p>
            <a:pPr>
              <a:spcBef>
                <a:spcPts val="400"/>
              </a:spcBef>
              <a:defRPr sz="1100" b="1">
                <a:solidFill>
                  <a:srgbClr val="0F2A4A"/>
                </a:solidFill>
              </a:defRPr>
            </a:pPr>
            <a:r>
              <a:t>ECE = sum_m (|B_m|/N) * |acc(B_m) - conf(B_m)|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Evaluates whether predicted probabilities match empirical observation frequencies across 10 probability bins. Critical for trustworthy decision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Empirical XAI Benchmark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6692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XAI Metric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Empirical Value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Comprehensiveness (Top-10)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0.1275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2.7x higher than random (0.0465)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Sufficiency (Top-10)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0.8890 (88.9%)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 tokens retain 89% prediction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Fidelity (Surrogate Corr.)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r = 0.9984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Near-perfect decision mimicry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Stability (Jaccard Top-5)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Zero explanation flip under noise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Explanation Sparsity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Gini = 0.4954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Concentrated in compact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Actionability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148.3 tokens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High barrier against manipulation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Confidence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ECE = 0.0403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Brier Score = 0.0778 (Well-calibrated)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5_xai_faithfulness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87375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Explanation-Guided Interventions: Neutralizing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4_shap_global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325112" cy="4846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39593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How the Evidence Stream Intervenes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2A4A"/>
                </a:solidFill>
              </a:rPr>
              <a:t>• The Discovery: </a:t>
            </a:r>
            <a:r>
              <a:rPr b="0" sz="1100">
                <a:solidFill>
                  <a:srgbClr val="0F172A"/>
                </a:solidFill>
              </a:rPr>
              <a:t>SHAP exposes that top 'True' words are wire markers ('said', 'reuter', 'wednesday'), while top 'Fake' words are media tags ('video', 'via').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2A4A"/>
                </a:solidFill>
              </a:rPr>
              <a:t>• The Vulnerability: </a:t>
            </a:r>
            <a:r>
              <a:rPr b="0" sz="1100">
                <a:solidFill>
                  <a:srgbClr val="0F172A"/>
                </a:solidFill>
              </a:rPr>
              <a:t>A fabricated rumor written in Reuters wire style fools pure NLP classifiers into high-confidence 'True' predictions.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2A4A"/>
                </a:solidFill>
              </a:rPr>
              <a:t>• The Dual-Stream Fix: </a:t>
            </a:r>
            <a:r>
              <a:rPr b="0" sz="1100">
                <a:solidFill>
                  <a:srgbClr val="0F172A"/>
                </a:solidFill>
              </a:rPr>
              <a:t>VeriAI's Web Evidence Engine queries contemporary feeds. If no corroboration exists, the NLI module flags Contradiction.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2A4A"/>
                </a:solidFill>
              </a:rPr>
              <a:t>• Automated Intervention: </a:t>
            </a:r>
            <a:r>
              <a:rPr b="0" sz="1100">
                <a:solidFill>
                  <a:srgbClr val="0F172A"/>
                </a:solidFill>
              </a:rPr>
              <a:t>Evidence grounding overrides the misleading linguistic prior, preventing disastrous false positives on propaganda.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Hyperparameter Sensitivity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6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63040"/>
            <a:ext cx="395935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645920"/>
            <a:ext cx="35935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A4A"/>
                </a:solidFill>
              </a:defRPr>
            </a:pPr>
            <a:r>
              <a:t>Parameter Robustness Insights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2563EB"/>
                </a:solidFill>
              </a:rPr>
              <a:t>• Vocabulary Capacity: </a:t>
            </a:r>
            <a:r>
              <a:rPr b="0" sz="1050">
                <a:solidFill>
                  <a:srgbClr val="475569"/>
                </a:solidFill>
              </a:rPr>
              <a:t>Expanding max features from 1k to 10k lifts F1 from 0.8811 to 0.8946. Beyond 10k, gains plateau (+0.0001 at 15k) while doubling memory.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2563EB"/>
                </a:solidFill>
              </a:rPr>
              <a:t>• Optimal Envelope: </a:t>
            </a:r>
            <a:r>
              <a:rPr b="0" sz="1050">
                <a:solidFill>
                  <a:srgbClr val="475569"/>
                </a:solidFill>
              </a:rPr>
              <a:t>10,000 features balances discriminatory power with &lt; 15 MB model footprint.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2563EB"/>
                </a:solidFill>
              </a:rPr>
              <a:t>• Regularization C: </a:t>
            </a:r>
            <a:r>
              <a:rPr b="0" sz="1050">
                <a:solidFill>
                  <a:srgbClr val="475569"/>
                </a:solidFill>
              </a:rPr>
              <a:t>Optimal F1 achieved between C=1.0 (0.8952) and C=2.0 (0.8946).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2563EB"/>
                </a:solidFill>
              </a:rPr>
              <a:t>• Over/Under Fitting: </a:t>
            </a:r>
            <a:r>
              <a:rPr b="0" sz="1050">
                <a:solidFill>
                  <a:srgbClr val="475569"/>
                </a:solidFill>
              </a:rPr>
              <a:t>C=0.01 over-penalizes informative terms (F1=0.8696); C=10.0 overfits on noisy bigrams (F1=0.8878).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Failure-Case Analysis &amp; Operational Diagnostics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Case 1: Breaking Local News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Authentic breaking emergency reports (e.g., student fatalities) lack Reuters datelines and contain words like 'dead' or 'police'.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DC2626"/>
                </a:solidFill>
              </a:rPr>
              <a:t>NLP Failure Mode: </a:t>
            </a:r>
            <a:r>
              <a:rPr b="0" sz="1000">
                <a:solidFill>
                  <a:srgbClr val="0F172A"/>
                </a:solidFill>
              </a:rPr>
              <a:t>Linguistic model flags sensationalism risk and predicts Fake.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59669"/>
                </a:solidFill>
              </a:rPr>
              <a:t>VeriAI Mitigation: </a:t>
            </a:r>
            <a:r>
              <a:rPr b="0" sz="1000">
                <a:solidFill>
                  <a:srgbClr val="0F172A"/>
                </a:solidFill>
              </a:rPr>
              <a:t>Evidence Engine retrieves local police bulletins and regional reporting to rescue the claim as True.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Case 2: Stylized Satirical News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The Onion articles mimic Reuters editorial syntax ('said on Thursday'), using formal attribution verbs.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DC2626"/>
                </a:solidFill>
              </a:rPr>
              <a:t>NLP Failure Mode: </a:t>
            </a:r>
            <a:r>
              <a:rPr b="0" sz="1000">
                <a:solidFill>
                  <a:srgbClr val="0F172A"/>
                </a:solidFill>
              </a:rPr>
              <a:t>Linguistic model misclassifies satire as credible real news.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59669"/>
                </a:solidFill>
              </a:rPr>
              <a:t>VeriAI Mitigation: </a:t>
            </a:r>
            <a:r>
              <a:rPr b="0" sz="1000">
                <a:solidFill>
                  <a:srgbClr val="0F172A"/>
                </a:solidFill>
              </a:rPr>
              <a:t>Evidence Engine checks domain provenance and NLI detects absence of real-world event corroboration.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Case 3: Nuanced Half-Truths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Statements that contain 90% truthful background facts wrapped around a single deceptive statistic.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DC2626"/>
                </a:solidFill>
              </a:rPr>
              <a:t>NLP Failure Mode: </a:t>
            </a:r>
            <a:r>
              <a:rPr b="0" sz="1000">
                <a:solidFill>
                  <a:srgbClr val="0F172A"/>
                </a:solidFill>
              </a:rPr>
              <a:t>Coarse paragraph classifiers assign high truth probability.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59669"/>
                </a:solidFill>
              </a:rPr>
              <a:t>VeriAI Mitigation: </a:t>
            </a:r>
            <a:r>
              <a:rPr b="0" sz="1000">
                <a:solidFill>
                  <a:srgbClr val="0F172A"/>
                </a:solidFill>
              </a:rPr>
              <a:t>Atomic Claim Decomposition isolates each sub-clause, flagging the lone contradicted statistic.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Summary of Novel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7727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A4A"/>
                </a:solidFill>
              </a:defRPr>
            </a:pPr>
            <a:r>
              <a:t>Key Research &amp; Engineering Breakthroughs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• Dual-Stream Verification Paradigm: </a:t>
            </a:r>
            <a:r>
              <a:rPr b="0" sz="1150">
                <a:solidFill>
                  <a:srgbClr val="0F172A"/>
                </a:solidFill>
              </a:rPr>
              <a:t>First architecture to decouple stylistic credibility modeling (SHAP attribution) from real-world empirical ground truth (live multi-feed web retrieval and cross-encoder NLI).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• Empirical Discovery of Publisher Bias: </a:t>
            </a:r>
            <a:r>
              <a:rPr b="0" sz="1150">
                <a:solidFill>
                  <a:srgbClr val="0F172A"/>
                </a:solidFill>
              </a:rPr>
              <a:t>Uncovered through global SHAP analysis that static text models overfit to news agency structure ('said', 'reuter') rather than factual validity, explaining real-world classifier breakdowns.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• Comprehensive Quantitative XAI Benchmarking: </a:t>
            </a:r>
            <a:r>
              <a:rPr b="0" sz="1150">
                <a:solidFill>
                  <a:srgbClr val="0F172A"/>
                </a:solidFill>
              </a:rPr>
              <a:t>Established formal empirical benchmarks across Faithfulness, Sufficiency, Stability (Jaccard = 1.000), Fidelity (r = 0.9984), and Expected Calibration Error (ECE = 0.0403).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• Microsecond Inference Latency: </a:t>
            </a:r>
            <a:r>
              <a:rPr b="0" sz="1150">
                <a:solidFill>
                  <a:srgbClr val="0F172A"/>
                </a:solidFill>
              </a:rPr>
              <a:t>Demonstrated that a regularized linear model achieves ensemble-level F1 (0.8946 vs 0.9015) while executing in 0.4 µs and enabling closed-form Shapley computations.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• Interactive Deployed Fact-Checker: </a:t>
            </a:r>
            <a:r>
              <a:rPr b="0" sz="1150">
                <a:solidFill>
                  <a:srgbClr val="0F172A"/>
                </a:solidFill>
              </a:rPr>
              <a:t>Delivered an open-source, full-stack application featuring client-side word attribution, atomic claim inspection, and dynamic search re-querying.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Conclusion &amp; Future Research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Project Conclusions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2A4A"/>
                </a:solidFill>
              </a:rPr>
              <a:t>• High Predictive Accuracy: </a:t>
            </a:r>
            <a:r>
              <a:rPr b="0" sz="1150">
                <a:solidFill>
                  <a:srgbClr val="0F172A"/>
                </a:solidFill>
              </a:rPr>
              <a:t>88.93% Accuracy, 0.8946 F1-Score, and 0.9625 ROC-AUC across 57,689 multi-source benchmark records.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2A4A"/>
                </a:solidFill>
              </a:rPr>
              <a:t>• Transparent Explanations: </a:t>
            </a:r>
            <a:r>
              <a:rPr b="0" sz="1150">
                <a:solidFill>
                  <a:srgbClr val="0F172A"/>
                </a:solidFill>
              </a:rPr>
              <a:t>SHAP feature attribution delivers auditable word-level transparency, eliminating the opaque black-box problem.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2A4A"/>
                </a:solidFill>
              </a:rPr>
              <a:t>• Bias Elimination: </a:t>
            </a:r>
            <a:r>
              <a:rPr b="0" sz="1150">
                <a:solidFill>
                  <a:srgbClr val="0F172A"/>
                </a:solidFill>
              </a:rPr>
              <a:t>Dual-stream retrieval successfully neutralizes stylistic publisher shortcuts, grounding verdicts in contemporary reporting.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2A4A"/>
                </a:solidFill>
              </a:rPr>
              <a:t>• Production Readiness: </a:t>
            </a:r>
            <a:r>
              <a:rPr b="0" sz="1150">
                <a:solidFill>
                  <a:srgbClr val="0F172A"/>
                </a:solidFill>
              </a:rPr>
              <a:t>0.4 µs inference latency enables real-time deployment without expensive GPU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3951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A4A"/>
                </a:solidFill>
              </a:defRPr>
            </a:pPr>
            <a:r>
              <a:t>Future Research Directions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• Multimodal Forensics: </a:t>
            </a:r>
            <a:r>
              <a:rPr b="0" sz="1150">
                <a:solidFill>
                  <a:srgbClr val="475569"/>
                </a:solidFill>
              </a:rPr>
              <a:t>Extend verification to deepfake video detection and reverse-image metadata forensic analysis.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• Cross-Lingual Fact Verification: </a:t>
            </a:r>
            <a:r>
              <a:rPr b="0" sz="1150">
                <a:solidFill>
                  <a:srgbClr val="475569"/>
                </a:solidFill>
              </a:rPr>
              <a:t>Incorporate multilingual transformer cross-encoders to verify non-English and regional Indian language claims.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• Newsroom Human-in-the-Loop Trial: </a:t>
            </a:r>
            <a:r>
              <a:rPr b="0" sz="1150">
                <a:solidFill>
                  <a:srgbClr val="475569"/>
                </a:solidFill>
              </a:rPr>
              <a:t>Conduct double-blind usability trials with professional journalists to evaluate decision speed and cognitive load.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2563EB"/>
                </a:solidFill>
              </a:rPr>
              <a:t>• Social Propagation Modeling: </a:t>
            </a:r>
            <a:r>
              <a:rPr b="0" sz="1150">
                <a:solidFill>
                  <a:srgbClr val="475569"/>
                </a:solidFill>
              </a:rPr>
              <a:t>Integrate graph neural networks to analyze coordinated inauthentic behavior on social media platforms.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VERIAI | DECISION ANALYTICS FINAL REVIEW</a:t>
            </a:r>
          </a:p>
          <a:p>
            <a:pPr>
              <a:defRPr sz="2200" b="1">
                <a:solidFill>
                  <a:srgbClr val="0F2A4A"/>
                </a:solidFill>
                <a:latin typeface="Calibri"/>
              </a:defRPr>
            </a:pPr>
            <a:r>
              <a:t>Key References &amp; Technical Viva Defense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858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A4A"/>
                </a:solidFill>
              </a:defRPr>
            </a:pPr>
            <a:r>
              <a:t>Selected Academic References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[1] S. M. Lundberg and S.-I. Lee, 'A unified approach to interpreting model predictions,' NeurIPS, 2017.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[2] M. T. Ribeiro et al., '"Why should I trust you?": Explaining predictions,' ACM SIGKDD, 2016.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[3] W. Y. Wang, '"Liar, liar pants on fire": A new benchmark dataset,' ACL, 2017.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[4] J. Thorne et al., 'FEVER: a large-scale dataset for fact extraction,' NAACL-HLT, 2018.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[5] K. Shu et al., 'Fake news detection on social media: A data mining perspective,' ACM SIGKDD, 2017.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[6] C. Guo et al., 'On calibration of modern neural networks,' ICML, 2017.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[7] P. He et al., 'DeBERTa: Decoding-enhanced BERT with disentangled attention,' ICLR, 2021.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463040"/>
            <a:ext cx="3685032" cy="4846320"/>
          </a:xfrm>
          <a:prstGeom prst="roundRect">
            <a:avLst/>
          </a:prstGeom>
          <a:solidFill>
            <a:srgbClr val="0F2A4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011680"/>
            <a:ext cx="33192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800">
                <a:solidFill>
                  <a:srgbClr val="93C5FD"/>
                </a:solidFill>
              </a:defRPr>
            </a:pPr>
            <a:r>
              <a:t>Questions &amp; Discussion</a:t>
            </a:r>
          </a:p>
          <a:p>
            <a:pPr algn="ctr">
              <a:spcBef>
                <a:spcPts val="2000"/>
              </a:spcBef>
              <a:defRPr sz="1100">
                <a:solidFill>
                  <a:srgbClr val="E2E8F0"/>
                </a:solidFill>
              </a:defRPr>
            </a:pPr>
            <a:r>
              <a:t>VeriAI Deliverables:</a:t>
            </a:r>
            <a:br/>
            <a:r>
              <a:t>• Final Academic Report (DOCX &amp; PDF)</a:t>
            </a:r>
            <a:br/>
            <a:r>
              <a:t>• Deployed Full-Stack Web Application</a:t>
            </a:r>
            <a:br/>
            <a:r>
              <a:t>• Open-Source GitHub Repository</a:t>
            </a:r>
            <a:br/>
            <a:br/>
            <a:r>
              <a:t>Rohan &amp; Lakshya Kumar Singh</a:t>
            </a:r>
            <a:br/>
            <a:r>
              <a:t>VIT Chennai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